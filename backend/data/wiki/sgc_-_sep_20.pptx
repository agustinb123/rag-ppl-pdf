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6" r:id="rId3"/>
    <p:sldId id="257" r:id="rId4"/>
    <p:sldId id="258" r:id="rId5"/>
    <p:sldId id="261" r:id="rId6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27E0B-37E2-4640-A79B-09157DBE91DD}" type="datetimeFigureOut">
              <a:rPr lang="es-AR" smtClean="0"/>
              <a:t>21/9/2020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3439-30EE-4F74-9CDB-7D9C2B4C575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4640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27E0B-37E2-4640-A79B-09157DBE91DD}" type="datetimeFigureOut">
              <a:rPr lang="es-AR" smtClean="0"/>
              <a:t>21/9/2020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3439-30EE-4F74-9CDB-7D9C2B4C575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41208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27E0B-37E2-4640-A79B-09157DBE91DD}" type="datetimeFigureOut">
              <a:rPr lang="es-AR" smtClean="0"/>
              <a:t>21/9/2020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3439-30EE-4F74-9CDB-7D9C2B4C575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45584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27E0B-37E2-4640-A79B-09157DBE91DD}" type="datetimeFigureOut">
              <a:rPr lang="es-AR" smtClean="0"/>
              <a:t>21/9/2020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3439-30EE-4F74-9CDB-7D9C2B4C575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40310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27E0B-37E2-4640-A79B-09157DBE91DD}" type="datetimeFigureOut">
              <a:rPr lang="es-AR" smtClean="0"/>
              <a:t>21/9/2020</a:t>
            </a:fld>
            <a:endParaRPr lang="es-AR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3439-30EE-4F74-9CDB-7D9C2B4C575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48439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27E0B-37E2-4640-A79B-09157DBE91DD}" type="datetimeFigureOut">
              <a:rPr lang="es-AR" smtClean="0"/>
              <a:t>21/9/2020</a:t>
            </a:fld>
            <a:endParaRPr lang="es-AR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3439-30EE-4F74-9CDB-7D9C2B4C575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39379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27E0B-37E2-4640-A79B-09157DBE91DD}" type="datetimeFigureOut">
              <a:rPr lang="es-AR" smtClean="0"/>
              <a:t>21/9/2020</a:t>
            </a:fld>
            <a:endParaRPr lang="es-AR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3439-30EE-4F74-9CDB-7D9C2B4C575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71893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27E0B-37E2-4640-A79B-09157DBE91DD}" type="datetimeFigureOut">
              <a:rPr lang="es-AR" smtClean="0"/>
              <a:t>21/9/2020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3439-30EE-4F74-9CDB-7D9C2B4C575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12634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27E0B-37E2-4640-A79B-09157DBE91DD}" type="datetimeFigureOut">
              <a:rPr lang="es-AR" smtClean="0"/>
              <a:t>21/9/2020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3439-30EE-4F74-9CDB-7D9C2B4C575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85796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27E0B-37E2-4640-A79B-09157DBE91DD}" type="datetimeFigureOut">
              <a:rPr lang="es-AR" smtClean="0"/>
              <a:t>21/9/2020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3439-30EE-4F74-9CDB-7D9C2B4C575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14145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27E0B-37E2-4640-A79B-09157DBE91DD}" type="datetimeFigureOut">
              <a:rPr lang="es-AR" smtClean="0"/>
              <a:t>21/9/2020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3439-30EE-4F74-9CDB-7D9C2B4C575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6076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527E0B-37E2-4640-A79B-09157DBE91DD}" type="datetimeFigureOut">
              <a:rPr lang="es-AR" smtClean="0"/>
              <a:t>21/9/2020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063439-30EE-4F74-9CDB-7D9C2B4C575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39746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b="1" u="sng" dirty="0" smtClean="0"/>
              <a:t/>
            </a:r>
            <a:br>
              <a:rPr lang="es-AR" b="1" u="sng" dirty="0" smtClean="0"/>
            </a:br>
            <a:r>
              <a:rPr lang="es-AR" b="1" u="sng" dirty="0"/>
              <a:t/>
            </a:r>
            <a:br>
              <a:rPr lang="es-AR" b="1" u="sng" dirty="0"/>
            </a:br>
            <a:r>
              <a:rPr lang="es-AR" sz="4000" b="1" u="sng" dirty="0" smtClean="0"/>
              <a:t>Sistema de Gestión de la Calidad - SGC</a:t>
            </a:r>
            <a:r>
              <a:rPr lang="es-AR" b="1" u="sng" dirty="0" smtClean="0"/>
              <a:t/>
            </a:r>
            <a:br>
              <a:rPr lang="es-AR" b="1" u="sng" dirty="0" smtClean="0"/>
            </a:br>
            <a:endParaRPr lang="es-AR" b="1" u="sng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690688"/>
            <a:ext cx="10796834" cy="4883841"/>
          </a:xfrm>
        </p:spPr>
        <p:txBody>
          <a:bodyPr>
            <a:normAutofit lnSpcReduction="10000"/>
          </a:bodyPr>
          <a:lstStyle/>
          <a:p>
            <a:pPr lvl="0"/>
            <a:r>
              <a:rPr lang="es-AR" sz="2200" u="sng" dirty="0" smtClean="0"/>
              <a:t>Objetivo: </a:t>
            </a:r>
          </a:p>
          <a:p>
            <a:pPr lvl="1"/>
            <a:r>
              <a:rPr lang="es-ES" sz="1600" dirty="0" smtClean="0"/>
              <a:t>Aumentar la satisfacción del cliente.</a:t>
            </a:r>
          </a:p>
          <a:p>
            <a:pPr lvl="1"/>
            <a:r>
              <a:rPr lang="es-ES" sz="1600" dirty="0" smtClean="0"/>
              <a:t>Incorporar </a:t>
            </a:r>
            <a:r>
              <a:rPr lang="es-ES" sz="1600" dirty="0"/>
              <a:t>el hábito de la mejora continua a todos sus procesos. </a:t>
            </a:r>
            <a:endParaRPr lang="es-ES" sz="1600" dirty="0" smtClean="0"/>
          </a:p>
          <a:p>
            <a:r>
              <a:rPr lang="es-AR" sz="2200" dirty="0" smtClean="0"/>
              <a:t>Comprensión de la organización y de su contexto, partes interesadas, procesos, recursos</a:t>
            </a:r>
          </a:p>
          <a:p>
            <a:r>
              <a:rPr lang="es-AR" sz="2200" dirty="0" smtClean="0"/>
              <a:t>Análisis de Riesgos y Oportunidades</a:t>
            </a:r>
          </a:p>
          <a:p>
            <a:r>
              <a:rPr lang="es-AR" sz="2200" u="sng" dirty="0" smtClean="0"/>
              <a:t>Alcance: </a:t>
            </a:r>
            <a:r>
              <a:rPr lang="es-ES" sz="2000" b="1" i="1" dirty="0"/>
              <a:t>“Diseño, Desarrollo e Implementación de Software</a:t>
            </a:r>
            <a:r>
              <a:rPr lang="es-ES" sz="2000" b="1" i="1" dirty="0" smtClean="0"/>
              <a:t>”</a:t>
            </a:r>
            <a:endParaRPr lang="es-AR" sz="2000" dirty="0" smtClean="0"/>
          </a:p>
          <a:p>
            <a:r>
              <a:rPr lang="es-AR" sz="2200" u="sng" dirty="0" smtClean="0"/>
              <a:t>Basado en:</a:t>
            </a:r>
            <a:r>
              <a:rPr lang="es-AR" sz="2200" dirty="0" smtClean="0"/>
              <a:t>  </a:t>
            </a:r>
            <a:r>
              <a:rPr lang="es-ES" sz="2000" dirty="0"/>
              <a:t>Norma ISO </a:t>
            </a:r>
            <a:r>
              <a:rPr lang="es-ES" sz="2000" dirty="0" smtClean="0"/>
              <a:t>9001:2015 - Certificado por IRAM</a:t>
            </a:r>
          </a:p>
          <a:p>
            <a:r>
              <a:rPr lang="es-ES" sz="2200" u="sng" dirty="0" smtClean="0"/>
              <a:t>Contenido:</a:t>
            </a:r>
            <a:r>
              <a:rPr lang="es-ES" sz="2200" dirty="0" smtClean="0"/>
              <a:t> </a:t>
            </a:r>
            <a:r>
              <a:rPr lang="es-ES" sz="1800" dirty="0" smtClean="0"/>
              <a:t>Política de Calidad, Objetivos, Modelo Procesos,  Información </a:t>
            </a:r>
            <a:r>
              <a:rPr lang="es-ES" sz="1800" dirty="0" smtClean="0"/>
              <a:t>documentada (Drive: </a:t>
            </a:r>
            <a:r>
              <a:rPr lang="es-ES" sz="1800" dirty="0" err="1" smtClean="0"/>
              <a:t>Gestion</a:t>
            </a:r>
            <a:r>
              <a:rPr lang="es-ES" sz="1800" dirty="0" smtClean="0"/>
              <a:t> Calidad), </a:t>
            </a:r>
            <a:r>
              <a:rPr lang="es-ES" sz="1800" dirty="0" smtClean="0"/>
              <a:t>..</a:t>
            </a:r>
          </a:p>
          <a:p>
            <a:pPr marL="228600" lvl="1">
              <a:spcBef>
                <a:spcPts val="1000"/>
              </a:spcBef>
            </a:pPr>
            <a:r>
              <a:rPr lang="es-ES" sz="2200" u="sng" dirty="0" smtClean="0"/>
              <a:t>Control de Procesos:</a:t>
            </a:r>
            <a:r>
              <a:rPr lang="es-ES" sz="2200" dirty="0" smtClean="0"/>
              <a:t> </a:t>
            </a:r>
          </a:p>
          <a:p>
            <a:pPr lvl="1"/>
            <a:r>
              <a:rPr lang="es-ES" sz="1600" dirty="0"/>
              <a:t>Seguimiento, medición, análisis y </a:t>
            </a:r>
            <a:r>
              <a:rPr lang="es-ES" sz="1600" dirty="0" smtClean="0"/>
              <a:t>evaluación </a:t>
            </a:r>
          </a:p>
          <a:p>
            <a:pPr lvl="1"/>
            <a:r>
              <a:rPr lang="es-ES" sz="1600" dirty="0" smtClean="0"/>
              <a:t>Auditorias</a:t>
            </a:r>
          </a:p>
          <a:p>
            <a:pPr lvl="1"/>
            <a:r>
              <a:rPr lang="es-ES" sz="1600" dirty="0" smtClean="0"/>
              <a:t>Revisión por la Dirección</a:t>
            </a:r>
          </a:p>
          <a:p>
            <a:r>
              <a:rPr lang="es-ES" sz="2200" u="sng" dirty="0" smtClean="0"/>
              <a:t>Mejora Continua</a:t>
            </a:r>
            <a:endParaRPr lang="es-ES" sz="2200" u="sng" dirty="0"/>
          </a:p>
          <a:p>
            <a:pPr lvl="1"/>
            <a:endParaRPr lang="es-ES" sz="1800" dirty="0"/>
          </a:p>
          <a:p>
            <a:endParaRPr lang="es-ES" sz="1800" dirty="0" smtClean="0"/>
          </a:p>
          <a:p>
            <a:endParaRPr lang="es-AR" sz="1800" dirty="0"/>
          </a:p>
        </p:txBody>
      </p:sp>
      <p:pic>
        <p:nvPicPr>
          <p:cNvPr id="4" name="Imagen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8410" y="4964891"/>
            <a:ext cx="1503831" cy="1252331"/>
          </a:xfrm>
          <a:prstGeom prst="rect">
            <a:avLst/>
          </a:prstGeom>
        </p:spPr>
      </p:pic>
      <p:pic>
        <p:nvPicPr>
          <p:cNvPr id="3074" name="Picture 2" descr="https://lh6.googleusercontent.com/P8mvmfdCF44UnrLnAToZzjygladMhWAptZg_A28_L6CiJEFMyqg_zkw2jWR8yKeyItBqDSICxE7nqc7Jo3HcaucdjolQRwdfenJvZl_Oc9Vitr0qAGFbNq-60n_SDQbmSYOfjNqh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126" y="365125"/>
            <a:ext cx="1704975" cy="514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6375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pic>
        <p:nvPicPr>
          <p:cNvPr id="2049" name="image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9397" y="1072738"/>
            <a:ext cx="7960016" cy="5134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3367488" y="655629"/>
            <a:ext cx="569343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A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Mapa o Modelo de Procesos</a:t>
            </a:r>
            <a:r>
              <a:rPr kumimoji="0" lang="es-ES" altLang="es-AR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:</a:t>
            </a:r>
            <a:endParaRPr kumimoji="0" lang="es-ES" altLang="es-A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2315817" y="6162261"/>
            <a:ext cx="6917634" cy="410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457200">
              <a:lnSpc>
                <a:spcPct val="115000"/>
              </a:lnSpc>
              <a:spcAft>
                <a:spcPts val="0"/>
              </a:spcAft>
            </a:pPr>
            <a:r>
              <a:rPr lang="en-US" b="1" dirty="0">
                <a:latin typeface="Arial" panose="020B0604020202020204" pitchFamily="34" charset="0"/>
                <a:ea typeface="Arial" panose="020B0604020202020204" pitchFamily="34" charset="0"/>
              </a:rPr>
              <a:t>SIPOC: Supplier-Input-Process-Output-Client</a:t>
            </a:r>
            <a:endParaRPr lang="es-AR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2053" name="Picture 5" descr="https://lh6.googleusercontent.com/P8mvmfdCF44UnrLnAToZzjygladMhWAptZg_A28_L6CiJEFMyqg_zkw2jWR8yKeyItBqDSICxE7nqc7Jo3HcaucdjolQRwdfenJvZl_Oc9Vitr0qAGFbNq-60n_SDQbmSYOfjNqh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422" y="200024"/>
            <a:ext cx="1704975" cy="514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9305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/>
          <p:nvPr/>
        </p:nvPicPr>
        <p:blipFill>
          <a:blip r:embed="rId2"/>
          <a:stretch>
            <a:fillRect/>
          </a:stretch>
        </p:blipFill>
        <p:spPr>
          <a:xfrm>
            <a:off x="2216988" y="1285336"/>
            <a:ext cx="6996585" cy="5373880"/>
          </a:xfrm>
          <a:prstGeom prst="rect">
            <a:avLst/>
          </a:prstGeom>
          <a:ln cmpd="dbl">
            <a:solidFill>
              <a:schemeClr val="tx1"/>
            </a:solidFill>
          </a:ln>
        </p:spPr>
      </p:pic>
      <p:pic>
        <p:nvPicPr>
          <p:cNvPr id="5122" name="Picture 2" descr="https://lh6.googleusercontent.com/P8mvmfdCF44UnrLnAToZzjygladMhWAptZg_A28_L6CiJEFMyqg_zkw2jWR8yKeyItBqDSICxE7nqc7Jo3HcaucdjolQRwdfenJvZl_Oc9Vitr0qAGFbNq-60n_SDQbmSYOfjNqh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952" y="464478"/>
            <a:ext cx="1704975" cy="514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3351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3371" y="142749"/>
            <a:ext cx="8125257" cy="6572501"/>
          </a:xfrm>
          <a:prstGeom prst="rect">
            <a:avLst/>
          </a:prstGeom>
        </p:spPr>
      </p:pic>
      <p:sp>
        <p:nvSpPr>
          <p:cNvPr id="2" name="CuadroTexto 1"/>
          <p:cNvSpPr txBox="1"/>
          <p:nvPr/>
        </p:nvSpPr>
        <p:spPr>
          <a:xfrm flipH="1">
            <a:off x="228600" y="2405270"/>
            <a:ext cx="1371600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AR" sz="2000" dirty="0" smtClean="0"/>
              <a:t>Objetivos del SGC </a:t>
            </a:r>
            <a:endParaRPr lang="es-AR" sz="2000" dirty="0"/>
          </a:p>
        </p:txBody>
      </p:sp>
    </p:spTree>
    <p:extLst>
      <p:ext uri="{BB962C8B-B14F-4D97-AF65-F5344CB8AC3E}">
        <p14:creationId xmlns:p14="http://schemas.microsoft.com/office/powerpoint/2010/main" val="438188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696" y="624922"/>
            <a:ext cx="9914833" cy="5577094"/>
          </a:xfrm>
          <a:prstGeom prst="rect">
            <a:avLst/>
          </a:prstGeom>
        </p:spPr>
      </p:pic>
      <p:pic>
        <p:nvPicPr>
          <p:cNvPr id="4098" name="Picture 2" descr="https://lh6.googleusercontent.com/P8mvmfdCF44UnrLnAToZzjygladMhWAptZg_A28_L6CiJEFMyqg_zkw2jWR8yKeyItBqDSICxE7nqc7Jo3HcaucdjolQRwdfenJvZl_Oc9Vitr0qAGFbNq-60n_SDQbmSYOfjNqh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92" y="25879"/>
            <a:ext cx="1704975" cy="514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7386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489</TotalTime>
  <Words>111</Words>
  <Application>Microsoft Office PowerPoint</Application>
  <PresentationFormat>Panorámica</PresentationFormat>
  <Paragraphs>18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de Office</vt:lpstr>
      <vt:lpstr>  Sistema de Gestión de la Calidad - SGC 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marcela latugaye</dc:creator>
  <cp:lastModifiedBy>marcela latugaye</cp:lastModifiedBy>
  <cp:revision>12</cp:revision>
  <dcterms:created xsi:type="dcterms:W3CDTF">2020-09-16T14:18:58Z</dcterms:created>
  <dcterms:modified xsi:type="dcterms:W3CDTF">2020-09-21T19:17:26Z</dcterms:modified>
</cp:coreProperties>
</file>